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1430000" cy="7721600"/>
  <p:notesSz cx="6858000" cy="9144000"/>
  <p:embeddedFontLst>
    <p:embeddedFont>
      <p:font typeface="Inter" panose="020B0604020202020204" charset="0"/>
      <p:regular r:id="rId11"/>
    </p:embeddedFont>
    <p:embeddedFont>
      <p:font typeface="Petrona" panose="020B0604020202020204" charset="0"/>
      <p:regular r:id="rId12"/>
    </p:embeddedFont>
    <p:embeddedFont>
      <p:font typeface="Petrona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1368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gampally Mohith" userId="d6c6fc360dce7ba7" providerId="LiveId" clId="{89252962-03E1-4B5F-B935-AFFF6EB23FFA}"/>
    <pc:docChg chg="modSld">
      <pc:chgData name="Lingampally Mohith" userId="d6c6fc360dce7ba7" providerId="LiveId" clId="{89252962-03E1-4B5F-B935-AFFF6EB23FFA}" dt="2026-10-06T10:28:08.441" v="0" actId="1038"/>
      <pc:docMkLst>
        <pc:docMk/>
      </pc:docMkLst>
      <pc:sldChg chg="modSp mod">
        <pc:chgData name="Lingampally Mohith" userId="d6c6fc360dce7ba7" providerId="LiveId" clId="{89252962-03E1-4B5F-B935-AFFF6EB23FFA}" dt="2026-10-06T10:28:08.441" v="0" actId="1038"/>
        <pc:sldMkLst>
          <pc:docMk/>
          <pc:sldMk cId="0" sldId="256"/>
        </pc:sldMkLst>
        <pc:grpChg chg="mod">
          <ac:chgData name="Lingampally Mohith" userId="d6c6fc360dce7ba7" providerId="LiveId" clId="{89252962-03E1-4B5F-B935-AFFF6EB23FFA}" dt="2026-10-06T10:28:08.441" v="0" actId="1038"/>
          <ac:grpSpMkLst>
            <pc:docMk/>
            <pc:sldMk cId="0" sldId="256"/>
            <ac:grpSpMk id="4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2.pn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12" Type="http://schemas.openxmlformats.org/officeDocument/2006/relationships/image" Target="../media/image14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11" Type="http://schemas.openxmlformats.org/officeDocument/2006/relationships/image" Target="../media/image13.jpe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40994"/>
            <a:ext cx="11430000" cy="6438900"/>
            <a:chOff x="0" y="0"/>
            <a:chExt cx="11430000" cy="64389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30000" cy="6438900"/>
            </a:xfrm>
            <a:custGeom>
              <a:avLst/>
              <a:gdLst/>
              <a:ahLst/>
              <a:cxnLst/>
              <a:rect l="l" t="t" r="r" b="b"/>
              <a:pathLst>
                <a:path w="11430000" h="6438900">
                  <a:moveTo>
                    <a:pt x="0" y="0"/>
                  </a:moveTo>
                  <a:lnTo>
                    <a:pt x="11430000" y="0"/>
                  </a:lnTo>
                  <a:lnTo>
                    <a:pt x="11430000" y="6438900"/>
                  </a:lnTo>
                  <a:lnTo>
                    <a:pt x="0" y="643890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0962" y="640994"/>
            <a:ext cx="11425238" cy="6438900"/>
            <a:chOff x="0" y="0"/>
            <a:chExt cx="15233650" cy="8585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33650" cy="8585200"/>
            </a:xfrm>
            <a:custGeom>
              <a:avLst/>
              <a:gdLst/>
              <a:ahLst/>
              <a:cxnLst/>
              <a:rect l="l" t="t" r="r" b="b"/>
              <a:pathLst>
                <a:path w="15233650" h="8585200">
                  <a:moveTo>
                    <a:pt x="0" y="0"/>
                  </a:moveTo>
                  <a:lnTo>
                    <a:pt x="15233650" y="0"/>
                  </a:lnTo>
                  <a:lnTo>
                    <a:pt x="1523365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4886325" y="2509123"/>
            <a:ext cx="5097037" cy="1684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6"/>
              </a:lnSpc>
            </a:pPr>
            <a:r>
              <a:rPr lang="en-US" sz="3543" b="1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Faculty Workload and Timetable Management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87111" y="4480417"/>
            <a:ext cx="49187" cy="225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86325" y="4480417"/>
            <a:ext cx="2228259" cy="225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DBMSProject</a:t>
            </a:r>
            <a:r>
              <a:rPr lang="en-US" sz="13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Presentation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86325" y="4947142"/>
            <a:ext cx="4949380" cy="225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Presented by: Lingampally Mohith — Roll No: 25WU0102137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86325" y="5324757"/>
            <a:ext cx="275058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Guided By : Dr. Kiran Mayee </a:t>
            </a:r>
            <a:r>
              <a:rPr lang="en-US" sz="1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Adavala</a:t>
            </a:r>
            <a:r>
              <a:rPr lang="en-US" sz="1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</a:t>
            </a:r>
          </a:p>
        </p:txBody>
      </p:sp>
      <p:sp>
        <p:nvSpPr>
          <p:cNvPr id="11" name="Freeform 11"/>
          <p:cNvSpPr/>
          <p:nvPr/>
        </p:nvSpPr>
        <p:spPr>
          <a:xfrm>
            <a:off x="9330528" y="693126"/>
            <a:ext cx="2162965" cy="1185626"/>
          </a:xfrm>
          <a:custGeom>
            <a:avLst/>
            <a:gdLst/>
            <a:ahLst/>
            <a:cxnLst/>
            <a:rect l="l" t="t" r="r" b="b"/>
            <a:pathLst>
              <a:path w="2162965" h="1185626">
                <a:moveTo>
                  <a:pt x="0" y="0"/>
                </a:moveTo>
                <a:lnTo>
                  <a:pt x="2162966" y="0"/>
                </a:lnTo>
                <a:lnTo>
                  <a:pt x="2162966" y="1185626"/>
                </a:lnTo>
                <a:lnTo>
                  <a:pt x="0" y="11856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40994"/>
            <a:ext cx="11430000" cy="6438900"/>
            <a:chOff x="0" y="0"/>
            <a:chExt cx="11430000" cy="64389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30000" cy="6438900"/>
            </a:xfrm>
            <a:custGeom>
              <a:avLst/>
              <a:gdLst/>
              <a:ahLst/>
              <a:cxnLst/>
              <a:rect l="l" t="t" r="r" b="b"/>
              <a:pathLst>
                <a:path w="11430000" h="6438900">
                  <a:moveTo>
                    <a:pt x="0" y="0"/>
                  </a:moveTo>
                  <a:lnTo>
                    <a:pt x="11430000" y="0"/>
                  </a:lnTo>
                  <a:lnTo>
                    <a:pt x="11430000" y="6438900"/>
                  </a:lnTo>
                  <a:lnTo>
                    <a:pt x="0" y="643890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38175" y="3279419"/>
            <a:ext cx="57150" cy="57150"/>
            <a:chOff x="0" y="0"/>
            <a:chExt cx="57150" cy="57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272525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38175" y="3889019"/>
            <a:ext cx="57150" cy="57150"/>
            <a:chOff x="0" y="0"/>
            <a:chExt cx="57150" cy="571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272525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38175" y="4222394"/>
            <a:ext cx="57150" cy="57150"/>
            <a:chOff x="0" y="0"/>
            <a:chExt cx="57150" cy="571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272525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638175" y="4831994"/>
            <a:ext cx="57150" cy="57150"/>
            <a:chOff x="0" y="0"/>
            <a:chExt cx="57150" cy="571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272525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600075" y="2415530"/>
            <a:ext cx="3245472" cy="482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9"/>
              </a:lnSpc>
            </a:pPr>
            <a:r>
              <a:rPr lang="en-US" sz="2835" b="1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Problem Statement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4214" y="3156442"/>
            <a:ext cx="5655640" cy="208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Departments must allocate courses, compute faculty workload, and produce conflict‑free timetables</a:t>
            </a:r>
          </a:p>
          <a:p>
            <a:pPr algn="l">
              <a:lnSpc>
                <a:spcPts val="2174"/>
              </a:lnSpc>
              <a:spcBef>
                <a:spcPts val="449"/>
              </a:spcBef>
            </a:pPr>
            <a:r>
              <a:rPr lang="en-US" sz="1350" spc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Manual/spreadsheet planning causes: faculty, room, section clashes Difficulty calculating workload, handling substitutions and timetable changes</a:t>
            </a:r>
          </a:p>
          <a:p>
            <a:pPr algn="l">
              <a:lnSpc>
                <a:spcPts val="2174"/>
              </a:lnSpc>
              <a:spcBef>
                <a:spcPts val="449"/>
              </a:spcBef>
            </a:pPr>
            <a:r>
              <a:rPr lang="en-US" sz="1350" spc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Solution: centralized relational database to store and enforce scheduling rules</a:t>
            </a:r>
          </a:p>
        </p:txBody>
      </p:sp>
      <p:sp>
        <p:nvSpPr>
          <p:cNvPr id="14" name="Freeform 14"/>
          <p:cNvSpPr/>
          <p:nvPr/>
        </p:nvSpPr>
        <p:spPr>
          <a:xfrm>
            <a:off x="9330528" y="693126"/>
            <a:ext cx="2162965" cy="1185626"/>
          </a:xfrm>
          <a:custGeom>
            <a:avLst/>
            <a:gdLst/>
            <a:ahLst/>
            <a:cxnLst/>
            <a:rect l="l" t="t" r="r" b="b"/>
            <a:pathLst>
              <a:path w="2162965" h="1185626">
                <a:moveTo>
                  <a:pt x="0" y="0"/>
                </a:moveTo>
                <a:lnTo>
                  <a:pt x="2162966" y="0"/>
                </a:lnTo>
                <a:lnTo>
                  <a:pt x="2162966" y="1185626"/>
                </a:lnTo>
                <a:lnTo>
                  <a:pt x="0" y="1185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40994"/>
            <a:ext cx="11522484" cy="6392718"/>
          </a:xfrm>
          <a:custGeom>
            <a:avLst/>
            <a:gdLst/>
            <a:ahLst/>
            <a:cxnLst/>
            <a:rect l="l" t="t" r="r" b="b"/>
            <a:pathLst>
              <a:path w="11522484" h="6392718">
                <a:moveTo>
                  <a:pt x="0" y="0"/>
                </a:moveTo>
                <a:lnTo>
                  <a:pt x="11522484" y="0"/>
                </a:lnTo>
                <a:lnTo>
                  <a:pt x="11522484" y="6392718"/>
                </a:lnTo>
                <a:lnTo>
                  <a:pt x="0" y="63927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" y="290512"/>
            <a:ext cx="11420475" cy="7134225"/>
            <a:chOff x="0" y="0"/>
            <a:chExt cx="15227300" cy="9512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27300" cy="9512300"/>
            </a:xfrm>
            <a:custGeom>
              <a:avLst/>
              <a:gdLst/>
              <a:ahLst/>
              <a:cxnLst/>
              <a:rect l="l" t="t" r="r" b="b"/>
              <a:pathLst>
                <a:path w="15227300" h="9512300">
                  <a:moveTo>
                    <a:pt x="0" y="0"/>
                  </a:moveTo>
                  <a:lnTo>
                    <a:pt x="15227300" y="0"/>
                  </a:lnTo>
                  <a:lnTo>
                    <a:pt x="15227300" y="9512300"/>
                  </a:lnTo>
                  <a:lnTo>
                    <a:pt x="0" y="951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" t="-116" r="-41" b="-11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285750"/>
            <a:ext cx="11430000" cy="7143750"/>
            <a:chOff x="0" y="0"/>
            <a:chExt cx="11430000" cy="71437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30000" cy="7143750"/>
            </a:xfrm>
            <a:custGeom>
              <a:avLst/>
              <a:gdLst/>
              <a:ahLst/>
              <a:cxnLst/>
              <a:rect l="l" t="t" r="r" b="b"/>
              <a:pathLst>
                <a:path w="11430000" h="7143750">
                  <a:moveTo>
                    <a:pt x="0" y="0"/>
                  </a:moveTo>
                  <a:lnTo>
                    <a:pt x="11430000" y="0"/>
                  </a:lnTo>
                  <a:lnTo>
                    <a:pt x="11430000" y="7143750"/>
                  </a:lnTo>
                  <a:lnTo>
                    <a:pt x="0" y="714375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00075" y="1552575"/>
            <a:ext cx="695325" cy="695325"/>
            <a:chOff x="0" y="0"/>
            <a:chExt cx="927100" cy="927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27100" cy="927100"/>
            </a:xfrm>
            <a:custGeom>
              <a:avLst/>
              <a:gdLst/>
              <a:ahLst/>
              <a:cxnLst/>
              <a:rect l="l" t="t" r="r" b="b"/>
              <a:pathLst>
                <a:path w="927100" h="9271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80010"/>
                  </a:cubicBezTo>
                  <a:lnTo>
                    <a:pt x="0" y="847090"/>
                  </a:lnTo>
                  <a:cubicBezTo>
                    <a:pt x="0" y="857758"/>
                    <a:pt x="2032" y="867918"/>
                    <a:pt x="6096" y="877697"/>
                  </a:cubicBezTo>
                  <a:cubicBezTo>
                    <a:pt x="10160" y="887476"/>
                    <a:pt x="15875" y="896112"/>
                    <a:pt x="23495" y="903605"/>
                  </a:cubicBezTo>
                  <a:cubicBezTo>
                    <a:pt x="31115" y="911098"/>
                    <a:pt x="39624" y="916940"/>
                    <a:pt x="49403" y="921004"/>
                  </a:cubicBezTo>
                  <a:cubicBezTo>
                    <a:pt x="59182" y="925068"/>
                    <a:pt x="69342" y="927100"/>
                    <a:pt x="80010" y="927100"/>
                  </a:cubicBezTo>
                  <a:lnTo>
                    <a:pt x="847090" y="927100"/>
                  </a:lnTo>
                  <a:cubicBezTo>
                    <a:pt x="857758" y="927100"/>
                    <a:pt x="867918" y="925068"/>
                    <a:pt x="877697" y="921004"/>
                  </a:cubicBezTo>
                  <a:cubicBezTo>
                    <a:pt x="887476" y="916940"/>
                    <a:pt x="896112" y="911225"/>
                    <a:pt x="903605" y="903605"/>
                  </a:cubicBezTo>
                  <a:cubicBezTo>
                    <a:pt x="911098" y="895985"/>
                    <a:pt x="916940" y="887476"/>
                    <a:pt x="921004" y="877697"/>
                  </a:cubicBezTo>
                  <a:cubicBezTo>
                    <a:pt x="925068" y="867918"/>
                    <a:pt x="927100" y="857631"/>
                    <a:pt x="927100" y="847090"/>
                  </a:cubicBezTo>
                  <a:lnTo>
                    <a:pt x="927100" y="80010"/>
                  </a:lnTo>
                  <a:cubicBezTo>
                    <a:pt x="927100" y="69342"/>
                    <a:pt x="925068" y="59182"/>
                    <a:pt x="921004" y="49403"/>
                  </a:cubicBezTo>
                  <a:cubicBezTo>
                    <a:pt x="916940" y="39624"/>
                    <a:pt x="911225" y="30988"/>
                    <a:pt x="903605" y="23495"/>
                  </a:cubicBezTo>
                  <a:cubicBezTo>
                    <a:pt x="895985" y="16002"/>
                    <a:pt x="887476" y="10160"/>
                    <a:pt x="877697" y="6096"/>
                  </a:cubicBezTo>
                  <a:cubicBezTo>
                    <a:pt x="867918" y="2032"/>
                    <a:pt x="857758" y="0"/>
                    <a:pt x="847090" y="0"/>
                  </a:cubicBezTo>
                  <a:close/>
                </a:path>
              </a:pathLst>
            </a:custGeom>
            <a:blipFill>
              <a:blip r:embed="rId3"/>
              <a:stretch>
                <a:fillRect l="-21" t="-21" r="-20" b="-2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3209925" y="1552575"/>
            <a:ext cx="695325" cy="695325"/>
            <a:chOff x="0" y="0"/>
            <a:chExt cx="927100" cy="927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27100" cy="927100"/>
            </a:xfrm>
            <a:custGeom>
              <a:avLst/>
              <a:gdLst/>
              <a:ahLst/>
              <a:cxnLst/>
              <a:rect l="l" t="t" r="r" b="b"/>
              <a:pathLst>
                <a:path w="927100" h="9271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80010"/>
                  </a:cubicBezTo>
                  <a:lnTo>
                    <a:pt x="0" y="847090"/>
                  </a:lnTo>
                  <a:cubicBezTo>
                    <a:pt x="0" y="857758"/>
                    <a:pt x="2032" y="867918"/>
                    <a:pt x="6096" y="877697"/>
                  </a:cubicBezTo>
                  <a:cubicBezTo>
                    <a:pt x="10160" y="887476"/>
                    <a:pt x="15875" y="896112"/>
                    <a:pt x="23495" y="903605"/>
                  </a:cubicBezTo>
                  <a:cubicBezTo>
                    <a:pt x="31115" y="911098"/>
                    <a:pt x="39624" y="916940"/>
                    <a:pt x="49403" y="921004"/>
                  </a:cubicBezTo>
                  <a:cubicBezTo>
                    <a:pt x="59182" y="925068"/>
                    <a:pt x="69342" y="927100"/>
                    <a:pt x="80010" y="927100"/>
                  </a:cubicBezTo>
                  <a:lnTo>
                    <a:pt x="847090" y="927100"/>
                  </a:lnTo>
                  <a:cubicBezTo>
                    <a:pt x="857758" y="927100"/>
                    <a:pt x="867918" y="925068"/>
                    <a:pt x="877697" y="921004"/>
                  </a:cubicBezTo>
                  <a:cubicBezTo>
                    <a:pt x="887476" y="916940"/>
                    <a:pt x="896112" y="911225"/>
                    <a:pt x="903605" y="903605"/>
                  </a:cubicBezTo>
                  <a:cubicBezTo>
                    <a:pt x="911098" y="895985"/>
                    <a:pt x="916940" y="887476"/>
                    <a:pt x="921004" y="877697"/>
                  </a:cubicBezTo>
                  <a:cubicBezTo>
                    <a:pt x="925068" y="867918"/>
                    <a:pt x="927100" y="857631"/>
                    <a:pt x="927100" y="847090"/>
                  </a:cubicBezTo>
                  <a:lnTo>
                    <a:pt x="927100" y="80010"/>
                  </a:lnTo>
                  <a:cubicBezTo>
                    <a:pt x="927100" y="69342"/>
                    <a:pt x="925068" y="59182"/>
                    <a:pt x="921004" y="49403"/>
                  </a:cubicBezTo>
                  <a:cubicBezTo>
                    <a:pt x="916940" y="39624"/>
                    <a:pt x="911225" y="30988"/>
                    <a:pt x="903605" y="23495"/>
                  </a:cubicBezTo>
                  <a:cubicBezTo>
                    <a:pt x="895985" y="16002"/>
                    <a:pt x="887476" y="10160"/>
                    <a:pt x="877697" y="6096"/>
                  </a:cubicBezTo>
                  <a:cubicBezTo>
                    <a:pt x="867918" y="2032"/>
                    <a:pt x="857758" y="0"/>
                    <a:pt x="847090" y="0"/>
                  </a:cubicBezTo>
                  <a:close/>
                </a:path>
              </a:pathLst>
            </a:custGeom>
            <a:blipFill>
              <a:blip r:embed="rId4"/>
              <a:stretch>
                <a:fillRect l="-21" t="-21" r="-20" b="-2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5819775" y="1552575"/>
            <a:ext cx="695325" cy="695325"/>
            <a:chOff x="0" y="0"/>
            <a:chExt cx="927100" cy="927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27100" cy="927100"/>
            </a:xfrm>
            <a:custGeom>
              <a:avLst/>
              <a:gdLst/>
              <a:ahLst/>
              <a:cxnLst/>
              <a:rect l="l" t="t" r="r" b="b"/>
              <a:pathLst>
                <a:path w="927100" h="9271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79883"/>
                  </a:cubicBezTo>
                  <a:lnTo>
                    <a:pt x="0" y="847090"/>
                  </a:lnTo>
                  <a:cubicBezTo>
                    <a:pt x="0" y="857758"/>
                    <a:pt x="2032" y="867918"/>
                    <a:pt x="6096" y="877697"/>
                  </a:cubicBezTo>
                  <a:cubicBezTo>
                    <a:pt x="10160" y="887476"/>
                    <a:pt x="15875" y="896112"/>
                    <a:pt x="23495" y="903605"/>
                  </a:cubicBezTo>
                  <a:cubicBezTo>
                    <a:pt x="31115" y="911098"/>
                    <a:pt x="39624" y="916940"/>
                    <a:pt x="49403" y="921004"/>
                  </a:cubicBezTo>
                  <a:cubicBezTo>
                    <a:pt x="59182" y="925068"/>
                    <a:pt x="69342" y="927100"/>
                    <a:pt x="80010" y="927100"/>
                  </a:cubicBezTo>
                  <a:lnTo>
                    <a:pt x="847090" y="927100"/>
                  </a:lnTo>
                  <a:cubicBezTo>
                    <a:pt x="857758" y="927100"/>
                    <a:pt x="867918" y="925068"/>
                    <a:pt x="877697" y="921004"/>
                  </a:cubicBezTo>
                  <a:cubicBezTo>
                    <a:pt x="887476" y="916940"/>
                    <a:pt x="896112" y="911225"/>
                    <a:pt x="903605" y="903605"/>
                  </a:cubicBezTo>
                  <a:cubicBezTo>
                    <a:pt x="911098" y="895985"/>
                    <a:pt x="916940" y="887476"/>
                    <a:pt x="921004" y="877697"/>
                  </a:cubicBezTo>
                  <a:cubicBezTo>
                    <a:pt x="925068" y="867918"/>
                    <a:pt x="927100" y="857631"/>
                    <a:pt x="927100" y="847090"/>
                  </a:cubicBezTo>
                  <a:lnTo>
                    <a:pt x="927100" y="80010"/>
                  </a:lnTo>
                  <a:cubicBezTo>
                    <a:pt x="927100" y="69342"/>
                    <a:pt x="925068" y="59182"/>
                    <a:pt x="921004" y="49403"/>
                  </a:cubicBezTo>
                  <a:cubicBezTo>
                    <a:pt x="916940" y="39624"/>
                    <a:pt x="911225" y="30988"/>
                    <a:pt x="903605" y="23495"/>
                  </a:cubicBezTo>
                  <a:cubicBezTo>
                    <a:pt x="895985" y="16002"/>
                    <a:pt x="887476" y="10160"/>
                    <a:pt x="877697" y="6096"/>
                  </a:cubicBezTo>
                  <a:cubicBezTo>
                    <a:pt x="867918" y="2032"/>
                    <a:pt x="857758" y="0"/>
                    <a:pt x="847090" y="0"/>
                  </a:cubicBezTo>
                  <a:close/>
                </a:path>
              </a:pathLst>
            </a:custGeom>
            <a:blipFill>
              <a:blip r:embed="rId5"/>
              <a:stretch>
                <a:fillRect l="-21" t="-21" r="-20" b="-2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8429625" y="1552575"/>
            <a:ext cx="695325" cy="695325"/>
            <a:chOff x="0" y="0"/>
            <a:chExt cx="927100" cy="9271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27100" cy="927100"/>
            </a:xfrm>
            <a:custGeom>
              <a:avLst/>
              <a:gdLst/>
              <a:ahLst/>
              <a:cxnLst/>
              <a:rect l="l" t="t" r="r" b="b"/>
              <a:pathLst>
                <a:path w="927100" h="9271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79883"/>
                  </a:cubicBezTo>
                  <a:lnTo>
                    <a:pt x="0" y="847090"/>
                  </a:lnTo>
                  <a:cubicBezTo>
                    <a:pt x="0" y="857758"/>
                    <a:pt x="2032" y="867918"/>
                    <a:pt x="6096" y="877697"/>
                  </a:cubicBezTo>
                  <a:cubicBezTo>
                    <a:pt x="10160" y="887476"/>
                    <a:pt x="15875" y="896112"/>
                    <a:pt x="23495" y="903605"/>
                  </a:cubicBezTo>
                  <a:cubicBezTo>
                    <a:pt x="31115" y="911098"/>
                    <a:pt x="39624" y="916940"/>
                    <a:pt x="49403" y="921004"/>
                  </a:cubicBezTo>
                  <a:cubicBezTo>
                    <a:pt x="59182" y="925068"/>
                    <a:pt x="69342" y="927100"/>
                    <a:pt x="80010" y="927100"/>
                  </a:cubicBezTo>
                  <a:lnTo>
                    <a:pt x="847090" y="927100"/>
                  </a:lnTo>
                  <a:cubicBezTo>
                    <a:pt x="857758" y="927100"/>
                    <a:pt x="867918" y="925068"/>
                    <a:pt x="877697" y="921004"/>
                  </a:cubicBezTo>
                  <a:cubicBezTo>
                    <a:pt x="887476" y="916940"/>
                    <a:pt x="896112" y="911225"/>
                    <a:pt x="903605" y="903605"/>
                  </a:cubicBezTo>
                  <a:cubicBezTo>
                    <a:pt x="911098" y="895985"/>
                    <a:pt x="916940" y="887476"/>
                    <a:pt x="921004" y="877697"/>
                  </a:cubicBezTo>
                  <a:cubicBezTo>
                    <a:pt x="925068" y="867918"/>
                    <a:pt x="927100" y="857631"/>
                    <a:pt x="927100" y="847090"/>
                  </a:cubicBezTo>
                  <a:lnTo>
                    <a:pt x="927100" y="80010"/>
                  </a:lnTo>
                  <a:cubicBezTo>
                    <a:pt x="927100" y="69342"/>
                    <a:pt x="925068" y="59182"/>
                    <a:pt x="921004" y="49403"/>
                  </a:cubicBezTo>
                  <a:cubicBezTo>
                    <a:pt x="916940" y="39624"/>
                    <a:pt x="911225" y="30988"/>
                    <a:pt x="903605" y="23495"/>
                  </a:cubicBezTo>
                  <a:cubicBezTo>
                    <a:pt x="895985" y="16002"/>
                    <a:pt x="887476" y="10160"/>
                    <a:pt x="877697" y="6096"/>
                  </a:cubicBezTo>
                  <a:cubicBezTo>
                    <a:pt x="867918" y="2032"/>
                    <a:pt x="857758" y="0"/>
                    <a:pt x="847090" y="0"/>
                  </a:cubicBezTo>
                  <a:close/>
                </a:path>
              </a:pathLst>
            </a:custGeom>
            <a:blipFill>
              <a:blip r:embed="rId6"/>
              <a:stretch>
                <a:fillRect l="-21" t="-21" r="-20" b="-20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600075" y="3095625"/>
            <a:ext cx="695325" cy="695325"/>
            <a:chOff x="0" y="0"/>
            <a:chExt cx="927100" cy="927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27100" cy="927100"/>
            </a:xfrm>
            <a:custGeom>
              <a:avLst/>
              <a:gdLst/>
              <a:ahLst/>
              <a:cxnLst/>
              <a:rect l="l" t="t" r="r" b="b"/>
              <a:pathLst>
                <a:path w="927100" h="9271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80010"/>
                  </a:cubicBezTo>
                  <a:lnTo>
                    <a:pt x="0" y="847090"/>
                  </a:lnTo>
                  <a:cubicBezTo>
                    <a:pt x="0" y="857758"/>
                    <a:pt x="2032" y="867918"/>
                    <a:pt x="6096" y="877697"/>
                  </a:cubicBezTo>
                  <a:cubicBezTo>
                    <a:pt x="10160" y="887476"/>
                    <a:pt x="15875" y="896112"/>
                    <a:pt x="23495" y="903605"/>
                  </a:cubicBezTo>
                  <a:cubicBezTo>
                    <a:pt x="31115" y="911098"/>
                    <a:pt x="39624" y="916940"/>
                    <a:pt x="49403" y="921004"/>
                  </a:cubicBezTo>
                  <a:cubicBezTo>
                    <a:pt x="59182" y="925068"/>
                    <a:pt x="69342" y="927100"/>
                    <a:pt x="80010" y="927100"/>
                  </a:cubicBezTo>
                  <a:lnTo>
                    <a:pt x="847090" y="927100"/>
                  </a:lnTo>
                  <a:cubicBezTo>
                    <a:pt x="857758" y="927100"/>
                    <a:pt x="867918" y="925068"/>
                    <a:pt x="877697" y="921004"/>
                  </a:cubicBezTo>
                  <a:cubicBezTo>
                    <a:pt x="887476" y="916940"/>
                    <a:pt x="896112" y="911225"/>
                    <a:pt x="903605" y="903605"/>
                  </a:cubicBezTo>
                  <a:cubicBezTo>
                    <a:pt x="911098" y="895985"/>
                    <a:pt x="916940" y="887476"/>
                    <a:pt x="921004" y="877697"/>
                  </a:cubicBezTo>
                  <a:cubicBezTo>
                    <a:pt x="925068" y="867918"/>
                    <a:pt x="927100" y="857631"/>
                    <a:pt x="927100" y="847090"/>
                  </a:cubicBezTo>
                  <a:lnTo>
                    <a:pt x="927100" y="80010"/>
                  </a:lnTo>
                  <a:cubicBezTo>
                    <a:pt x="927100" y="69342"/>
                    <a:pt x="925068" y="59182"/>
                    <a:pt x="921004" y="49403"/>
                  </a:cubicBezTo>
                  <a:cubicBezTo>
                    <a:pt x="916940" y="39624"/>
                    <a:pt x="911225" y="30988"/>
                    <a:pt x="903605" y="23495"/>
                  </a:cubicBezTo>
                  <a:cubicBezTo>
                    <a:pt x="895985" y="16002"/>
                    <a:pt x="887476" y="10160"/>
                    <a:pt x="877697" y="6096"/>
                  </a:cubicBezTo>
                  <a:cubicBezTo>
                    <a:pt x="867918" y="2032"/>
                    <a:pt x="857758" y="0"/>
                    <a:pt x="847090" y="0"/>
                  </a:cubicBezTo>
                  <a:close/>
                </a:path>
              </a:pathLst>
            </a:custGeom>
            <a:blipFill>
              <a:blip r:embed="rId7"/>
              <a:stretch>
                <a:fillRect l="-21" t="-21" r="-20" b="-20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3209925" y="3095625"/>
            <a:ext cx="695325" cy="695325"/>
            <a:chOff x="0" y="0"/>
            <a:chExt cx="927100" cy="927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27100" cy="927100"/>
            </a:xfrm>
            <a:custGeom>
              <a:avLst/>
              <a:gdLst/>
              <a:ahLst/>
              <a:cxnLst/>
              <a:rect l="l" t="t" r="r" b="b"/>
              <a:pathLst>
                <a:path w="927100" h="9271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80010"/>
                  </a:cubicBezTo>
                  <a:lnTo>
                    <a:pt x="0" y="847090"/>
                  </a:lnTo>
                  <a:cubicBezTo>
                    <a:pt x="0" y="857758"/>
                    <a:pt x="2032" y="867918"/>
                    <a:pt x="6096" y="877697"/>
                  </a:cubicBezTo>
                  <a:cubicBezTo>
                    <a:pt x="10160" y="887476"/>
                    <a:pt x="15875" y="896112"/>
                    <a:pt x="23495" y="903605"/>
                  </a:cubicBezTo>
                  <a:cubicBezTo>
                    <a:pt x="31115" y="911098"/>
                    <a:pt x="39624" y="916940"/>
                    <a:pt x="49403" y="921004"/>
                  </a:cubicBezTo>
                  <a:cubicBezTo>
                    <a:pt x="59182" y="925068"/>
                    <a:pt x="69342" y="927100"/>
                    <a:pt x="80010" y="927100"/>
                  </a:cubicBezTo>
                  <a:lnTo>
                    <a:pt x="847090" y="927100"/>
                  </a:lnTo>
                  <a:cubicBezTo>
                    <a:pt x="857758" y="927100"/>
                    <a:pt x="867918" y="925068"/>
                    <a:pt x="877697" y="921004"/>
                  </a:cubicBezTo>
                  <a:cubicBezTo>
                    <a:pt x="887476" y="916940"/>
                    <a:pt x="896112" y="911225"/>
                    <a:pt x="903605" y="903605"/>
                  </a:cubicBezTo>
                  <a:cubicBezTo>
                    <a:pt x="911098" y="895985"/>
                    <a:pt x="916940" y="887476"/>
                    <a:pt x="921004" y="877697"/>
                  </a:cubicBezTo>
                  <a:cubicBezTo>
                    <a:pt x="925068" y="867918"/>
                    <a:pt x="927100" y="857631"/>
                    <a:pt x="927100" y="847090"/>
                  </a:cubicBezTo>
                  <a:lnTo>
                    <a:pt x="927100" y="80010"/>
                  </a:lnTo>
                  <a:cubicBezTo>
                    <a:pt x="927100" y="69342"/>
                    <a:pt x="925068" y="59182"/>
                    <a:pt x="921004" y="49403"/>
                  </a:cubicBezTo>
                  <a:cubicBezTo>
                    <a:pt x="916940" y="39624"/>
                    <a:pt x="911225" y="30988"/>
                    <a:pt x="903605" y="23495"/>
                  </a:cubicBezTo>
                  <a:cubicBezTo>
                    <a:pt x="895985" y="16002"/>
                    <a:pt x="887476" y="10160"/>
                    <a:pt x="877697" y="6096"/>
                  </a:cubicBezTo>
                  <a:cubicBezTo>
                    <a:pt x="867918" y="2032"/>
                    <a:pt x="857758" y="0"/>
                    <a:pt x="847090" y="0"/>
                  </a:cubicBezTo>
                  <a:close/>
                </a:path>
              </a:pathLst>
            </a:custGeom>
            <a:blipFill>
              <a:blip r:embed="rId8"/>
              <a:stretch>
                <a:fillRect l="-21" t="-21" r="-20" b="-20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5819775" y="3095625"/>
            <a:ext cx="695325" cy="695325"/>
            <a:chOff x="0" y="0"/>
            <a:chExt cx="927100" cy="9271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27100" cy="927100"/>
            </a:xfrm>
            <a:custGeom>
              <a:avLst/>
              <a:gdLst/>
              <a:ahLst/>
              <a:cxnLst/>
              <a:rect l="l" t="t" r="r" b="b"/>
              <a:pathLst>
                <a:path w="927100" h="9271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79883"/>
                  </a:cubicBezTo>
                  <a:lnTo>
                    <a:pt x="0" y="847090"/>
                  </a:lnTo>
                  <a:cubicBezTo>
                    <a:pt x="0" y="857758"/>
                    <a:pt x="2032" y="867918"/>
                    <a:pt x="6096" y="877697"/>
                  </a:cubicBezTo>
                  <a:cubicBezTo>
                    <a:pt x="10160" y="887476"/>
                    <a:pt x="15875" y="896112"/>
                    <a:pt x="23495" y="903605"/>
                  </a:cubicBezTo>
                  <a:cubicBezTo>
                    <a:pt x="31115" y="911098"/>
                    <a:pt x="39624" y="916940"/>
                    <a:pt x="49403" y="921004"/>
                  </a:cubicBezTo>
                  <a:cubicBezTo>
                    <a:pt x="59182" y="925068"/>
                    <a:pt x="69342" y="927100"/>
                    <a:pt x="80010" y="927100"/>
                  </a:cubicBezTo>
                  <a:lnTo>
                    <a:pt x="847090" y="927100"/>
                  </a:lnTo>
                  <a:cubicBezTo>
                    <a:pt x="857758" y="927100"/>
                    <a:pt x="867918" y="925068"/>
                    <a:pt x="877697" y="921004"/>
                  </a:cubicBezTo>
                  <a:cubicBezTo>
                    <a:pt x="887476" y="916940"/>
                    <a:pt x="896112" y="911225"/>
                    <a:pt x="903605" y="903605"/>
                  </a:cubicBezTo>
                  <a:cubicBezTo>
                    <a:pt x="911098" y="895985"/>
                    <a:pt x="916940" y="887476"/>
                    <a:pt x="921004" y="877697"/>
                  </a:cubicBezTo>
                  <a:cubicBezTo>
                    <a:pt x="925068" y="867918"/>
                    <a:pt x="927100" y="857631"/>
                    <a:pt x="927100" y="847090"/>
                  </a:cubicBezTo>
                  <a:lnTo>
                    <a:pt x="927100" y="80010"/>
                  </a:lnTo>
                  <a:cubicBezTo>
                    <a:pt x="927100" y="69342"/>
                    <a:pt x="925068" y="59182"/>
                    <a:pt x="921004" y="49403"/>
                  </a:cubicBezTo>
                  <a:cubicBezTo>
                    <a:pt x="916940" y="39624"/>
                    <a:pt x="911225" y="30988"/>
                    <a:pt x="903605" y="23495"/>
                  </a:cubicBezTo>
                  <a:cubicBezTo>
                    <a:pt x="895985" y="16002"/>
                    <a:pt x="887476" y="10160"/>
                    <a:pt x="877697" y="6096"/>
                  </a:cubicBezTo>
                  <a:cubicBezTo>
                    <a:pt x="867918" y="2032"/>
                    <a:pt x="857758" y="0"/>
                    <a:pt x="847090" y="0"/>
                  </a:cubicBezTo>
                  <a:close/>
                </a:path>
              </a:pathLst>
            </a:custGeom>
            <a:blipFill>
              <a:blip r:embed="rId9"/>
              <a:stretch>
                <a:fillRect l="-21" t="-21" r="-20" b="-20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8429625" y="3095625"/>
            <a:ext cx="695325" cy="695325"/>
            <a:chOff x="0" y="0"/>
            <a:chExt cx="927100" cy="927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27100" cy="927100"/>
            </a:xfrm>
            <a:custGeom>
              <a:avLst/>
              <a:gdLst/>
              <a:ahLst/>
              <a:cxnLst/>
              <a:rect l="l" t="t" r="r" b="b"/>
              <a:pathLst>
                <a:path w="927100" h="9271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79883"/>
                  </a:cubicBezTo>
                  <a:lnTo>
                    <a:pt x="0" y="847090"/>
                  </a:lnTo>
                  <a:cubicBezTo>
                    <a:pt x="0" y="857758"/>
                    <a:pt x="2032" y="867918"/>
                    <a:pt x="6096" y="877697"/>
                  </a:cubicBezTo>
                  <a:cubicBezTo>
                    <a:pt x="10160" y="887476"/>
                    <a:pt x="15875" y="896112"/>
                    <a:pt x="23495" y="903605"/>
                  </a:cubicBezTo>
                  <a:cubicBezTo>
                    <a:pt x="31115" y="911098"/>
                    <a:pt x="39624" y="916940"/>
                    <a:pt x="49403" y="921004"/>
                  </a:cubicBezTo>
                  <a:cubicBezTo>
                    <a:pt x="59182" y="925068"/>
                    <a:pt x="69342" y="927100"/>
                    <a:pt x="80010" y="927100"/>
                  </a:cubicBezTo>
                  <a:lnTo>
                    <a:pt x="847090" y="927100"/>
                  </a:lnTo>
                  <a:cubicBezTo>
                    <a:pt x="857758" y="927100"/>
                    <a:pt x="867918" y="925068"/>
                    <a:pt x="877697" y="921004"/>
                  </a:cubicBezTo>
                  <a:cubicBezTo>
                    <a:pt x="887476" y="916940"/>
                    <a:pt x="896112" y="911225"/>
                    <a:pt x="903605" y="903605"/>
                  </a:cubicBezTo>
                  <a:cubicBezTo>
                    <a:pt x="911098" y="895985"/>
                    <a:pt x="916940" y="887476"/>
                    <a:pt x="921004" y="877697"/>
                  </a:cubicBezTo>
                  <a:cubicBezTo>
                    <a:pt x="925068" y="867918"/>
                    <a:pt x="927100" y="857631"/>
                    <a:pt x="927100" y="847090"/>
                  </a:cubicBezTo>
                  <a:lnTo>
                    <a:pt x="927100" y="80010"/>
                  </a:lnTo>
                  <a:cubicBezTo>
                    <a:pt x="927100" y="69342"/>
                    <a:pt x="925068" y="59182"/>
                    <a:pt x="921004" y="49403"/>
                  </a:cubicBezTo>
                  <a:cubicBezTo>
                    <a:pt x="916940" y="39624"/>
                    <a:pt x="911225" y="30988"/>
                    <a:pt x="903605" y="23495"/>
                  </a:cubicBezTo>
                  <a:cubicBezTo>
                    <a:pt x="895985" y="16002"/>
                    <a:pt x="887476" y="10160"/>
                    <a:pt x="877697" y="6096"/>
                  </a:cubicBezTo>
                  <a:cubicBezTo>
                    <a:pt x="867918" y="2032"/>
                    <a:pt x="857758" y="0"/>
                    <a:pt x="847090" y="0"/>
                  </a:cubicBezTo>
                  <a:close/>
                </a:path>
              </a:pathLst>
            </a:custGeom>
            <a:blipFill>
              <a:blip r:embed="rId10"/>
              <a:stretch>
                <a:fillRect l="-21" t="-21" r="-20" b="-20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600075" y="5210175"/>
            <a:ext cx="695325" cy="685800"/>
            <a:chOff x="0" y="0"/>
            <a:chExt cx="927100" cy="914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27100" cy="914400"/>
            </a:xfrm>
            <a:custGeom>
              <a:avLst/>
              <a:gdLst/>
              <a:ahLst/>
              <a:cxnLst/>
              <a:rect l="l" t="t" r="r" b="b"/>
              <a:pathLst>
                <a:path w="927100" h="9144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80010"/>
                  </a:cubicBezTo>
                  <a:lnTo>
                    <a:pt x="0" y="834390"/>
                  </a:lnTo>
                  <a:cubicBezTo>
                    <a:pt x="0" y="845058"/>
                    <a:pt x="2032" y="855218"/>
                    <a:pt x="6096" y="864997"/>
                  </a:cubicBezTo>
                  <a:cubicBezTo>
                    <a:pt x="10160" y="874776"/>
                    <a:pt x="15875" y="883412"/>
                    <a:pt x="23495" y="890905"/>
                  </a:cubicBezTo>
                  <a:cubicBezTo>
                    <a:pt x="31115" y="898398"/>
                    <a:pt x="39624" y="904240"/>
                    <a:pt x="49403" y="908304"/>
                  </a:cubicBezTo>
                  <a:cubicBezTo>
                    <a:pt x="59182" y="912368"/>
                    <a:pt x="69342" y="914400"/>
                    <a:pt x="80010" y="914400"/>
                  </a:cubicBezTo>
                  <a:lnTo>
                    <a:pt x="847090" y="914400"/>
                  </a:lnTo>
                  <a:cubicBezTo>
                    <a:pt x="857758" y="914400"/>
                    <a:pt x="867918" y="912368"/>
                    <a:pt x="877697" y="908304"/>
                  </a:cubicBezTo>
                  <a:cubicBezTo>
                    <a:pt x="887476" y="904240"/>
                    <a:pt x="896112" y="898525"/>
                    <a:pt x="903605" y="890905"/>
                  </a:cubicBezTo>
                  <a:cubicBezTo>
                    <a:pt x="911098" y="883285"/>
                    <a:pt x="916940" y="874776"/>
                    <a:pt x="921004" y="864997"/>
                  </a:cubicBezTo>
                  <a:cubicBezTo>
                    <a:pt x="925068" y="855218"/>
                    <a:pt x="927100" y="844931"/>
                    <a:pt x="927100" y="834390"/>
                  </a:cubicBezTo>
                  <a:lnTo>
                    <a:pt x="927100" y="80010"/>
                  </a:lnTo>
                  <a:cubicBezTo>
                    <a:pt x="927100" y="69342"/>
                    <a:pt x="925068" y="59182"/>
                    <a:pt x="921004" y="49403"/>
                  </a:cubicBezTo>
                  <a:cubicBezTo>
                    <a:pt x="916940" y="39624"/>
                    <a:pt x="911225" y="30988"/>
                    <a:pt x="903605" y="23495"/>
                  </a:cubicBezTo>
                  <a:cubicBezTo>
                    <a:pt x="895985" y="16002"/>
                    <a:pt x="887476" y="10160"/>
                    <a:pt x="877697" y="6096"/>
                  </a:cubicBezTo>
                  <a:cubicBezTo>
                    <a:pt x="867918" y="2032"/>
                    <a:pt x="857758" y="0"/>
                    <a:pt x="847090" y="0"/>
                  </a:cubicBezTo>
                  <a:close/>
                </a:path>
              </a:pathLst>
            </a:custGeom>
            <a:blipFill>
              <a:blip r:embed="rId11"/>
              <a:stretch>
                <a:fillRect l="-21" t="-20" r="-20" b="-22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3209925" y="5210175"/>
            <a:ext cx="695325" cy="685800"/>
            <a:chOff x="0" y="0"/>
            <a:chExt cx="927100" cy="914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27100" cy="914400"/>
            </a:xfrm>
            <a:custGeom>
              <a:avLst/>
              <a:gdLst/>
              <a:ahLst/>
              <a:cxnLst/>
              <a:rect l="l" t="t" r="r" b="b"/>
              <a:pathLst>
                <a:path w="927100" h="9144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80010"/>
                  </a:cubicBezTo>
                  <a:lnTo>
                    <a:pt x="0" y="834390"/>
                  </a:lnTo>
                  <a:cubicBezTo>
                    <a:pt x="0" y="845058"/>
                    <a:pt x="2032" y="855218"/>
                    <a:pt x="6096" y="864997"/>
                  </a:cubicBezTo>
                  <a:cubicBezTo>
                    <a:pt x="10160" y="874776"/>
                    <a:pt x="15875" y="883412"/>
                    <a:pt x="23495" y="890905"/>
                  </a:cubicBezTo>
                  <a:cubicBezTo>
                    <a:pt x="31115" y="898398"/>
                    <a:pt x="39624" y="904240"/>
                    <a:pt x="49403" y="908304"/>
                  </a:cubicBezTo>
                  <a:cubicBezTo>
                    <a:pt x="59182" y="912368"/>
                    <a:pt x="69342" y="914400"/>
                    <a:pt x="80010" y="914400"/>
                  </a:cubicBezTo>
                  <a:lnTo>
                    <a:pt x="847090" y="914400"/>
                  </a:lnTo>
                  <a:cubicBezTo>
                    <a:pt x="857758" y="914400"/>
                    <a:pt x="867918" y="912368"/>
                    <a:pt x="877697" y="908304"/>
                  </a:cubicBezTo>
                  <a:cubicBezTo>
                    <a:pt x="887476" y="904240"/>
                    <a:pt x="896112" y="898525"/>
                    <a:pt x="903605" y="890905"/>
                  </a:cubicBezTo>
                  <a:cubicBezTo>
                    <a:pt x="911098" y="883285"/>
                    <a:pt x="916940" y="874776"/>
                    <a:pt x="921004" y="864997"/>
                  </a:cubicBezTo>
                  <a:cubicBezTo>
                    <a:pt x="925068" y="855218"/>
                    <a:pt x="927100" y="844931"/>
                    <a:pt x="927100" y="834390"/>
                  </a:cubicBezTo>
                  <a:lnTo>
                    <a:pt x="927100" y="80010"/>
                  </a:lnTo>
                  <a:cubicBezTo>
                    <a:pt x="927100" y="69342"/>
                    <a:pt x="925068" y="59182"/>
                    <a:pt x="921004" y="49403"/>
                  </a:cubicBezTo>
                  <a:cubicBezTo>
                    <a:pt x="916940" y="39624"/>
                    <a:pt x="911225" y="30988"/>
                    <a:pt x="903605" y="23495"/>
                  </a:cubicBezTo>
                  <a:cubicBezTo>
                    <a:pt x="895985" y="16002"/>
                    <a:pt x="887476" y="10160"/>
                    <a:pt x="877697" y="6096"/>
                  </a:cubicBezTo>
                  <a:cubicBezTo>
                    <a:pt x="867918" y="2032"/>
                    <a:pt x="857758" y="0"/>
                    <a:pt x="847090" y="0"/>
                  </a:cubicBezTo>
                  <a:close/>
                </a:path>
              </a:pathLst>
            </a:custGeom>
            <a:blipFill>
              <a:blip r:embed="rId12"/>
              <a:stretch>
                <a:fillRect l="-21" t="-20" r="-20" b="-22"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600075" y="717261"/>
            <a:ext cx="2412263" cy="482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9"/>
              </a:lnSpc>
            </a:pPr>
            <a:r>
              <a:rPr lang="en-US" sz="2835" b="1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Major Entities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09417" y="3062945"/>
            <a:ext cx="1496549" cy="675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 b="1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Faculty</a:t>
            </a:r>
          </a:p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faculty_id, dept_id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09417" y="5139395"/>
            <a:ext cx="1476566" cy="1798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1771" b="1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Substitution</a:t>
            </a:r>
          </a:p>
          <a:p>
            <a:pPr algn="l">
              <a:lnSpc>
                <a:spcPts val="2160"/>
              </a:lnSpc>
            </a:pPr>
            <a:r>
              <a:rPr lang="en-US" sz="1350" spc="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sub_id, original_faculty_id , </a:t>
            </a:r>
          </a:p>
          <a:p>
            <a:pPr algn="l">
              <a:lnSpc>
                <a:spcPts val="2160"/>
              </a:lnSpc>
            </a:pPr>
            <a:r>
              <a:rPr lang="en-US" sz="1350" spc="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substitute_facul</a:t>
            </a:r>
            <a:r>
              <a:rPr lang="en-US" sz="1350" spc="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spc="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1350" spc="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spc="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y _id, entry_id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09417" y="1481795"/>
            <a:ext cx="1267111" cy="979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3"/>
              </a:lnSpc>
            </a:pPr>
            <a:r>
              <a:rPr lang="en-US" sz="1771" b="1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Department</a:t>
            </a:r>
          </a:p>
          <a:p>
            <a:pPr algn="l">
              <a:lnSpc>
                <a:spcPts val="2174"/>
              </a:lnSpc>
            </a:pPr>
            <a:r>
              <a:rPr lang="en-US" sz="1350" spc="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dept_id, </a:t>
            </a:r>
          </a:p>
          <a:p>
            <a:pPr algn="l">
              <a:lnSpc>
                <a:spcPts val="2174"/>
              </a:lnSpc>
            </a:pPr>
            <a:r>
              <a:rPr lang="en-US" sz="1350" spc="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dept_</a:t>
            </a:r>
            <a:r>
              <a:rPr lang="en-US" sz="1350" spc="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spc="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name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20458" y="5206070"/>
            <a:ext cx="1100890" cy="1465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771" b="1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Workload Norm</a:t>
            </a:r>
          </a:p>
          <a:p>
            <a:pPr algn="l">
              <a:lnSpc>
                <a:spcPts val="2174"/>
              </a:lnSpc>
            </a:pPr>
            <a:r>
              <a:rPr lang="en-US" sz="1350" spc="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norm_id, faculty_type, max_</a:t>
            </a:r>
            <a:r>
              <a:rPr lang="en-US" sz="1350" spc="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spc="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hours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120458" y="1481795"/>
            <a:ext cx="1289275" cy="979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3"/>
              </a:lnSpc>
            </a:pPr>
            <a:r>
              <a:rPr lang="en-US" sz="1771" b="1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Programme</a:t>
            </a:r>
          </a:p>
          <a:p>
            <a:pPr algn="l">
              <a:lnSpc>
                <a:spcPts val="2174"/>
              </a:lnSpc>
            </a:pPr>
            <a:r>
              <a:rPr lang="en-US" sz="1350" spc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programme_id, dept_</a:t>
            </a:r>
            <a:r>
              <a:rPr lang="en-US" sz="1350" spc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spc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120458" y="3081995"/>
            <a:ext cx="1517742" cy="176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771" b="1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Room / Time Slot</a:t>
            </a:r>
          </a:p>
          <a:p>
            <a:pPr algn="l">
              <a:lnSpc>
                <a:spcPts val="2174"/>
              </a:lnSpc>
            </a:pPr>
            <a:r>
              <a:rPr lang="en-US" sz="1350" spc="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room_id, capacity • slot_id, day, start_time, end_time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31498" y="1481795"/>
            <a:ext cx="1289275" cy="1256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3"/>
              </a:lnSpc>
            </a:pPr>
            <a:r>
              <a:rPr lang="en-US" sz="1771" b="1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Course</a:t>
            </a:r>
          </a:p>
          <a:p>
            <a:pPr algn="l">
              <a:lnSpc>
                <a:spcPts val="2174"/>
              </a:lnSpc>
            </a:pPr>
            <a:r>
              <a:rPr lang="en-US" sz="1350" spc="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course_id, programme_id, credits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31498" y="3034370"/>
            <a:ext cx="1286094" cy="1246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1771" b="1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Assignment</a:t>
            </a:r>
          </a:p>
          <a:p>
            <a:pPr algn="l">
              <a:lnSpc>
                <a:spcPts val="2127"/>
              </a:lnSpc>
            </a:pPr>
            <a:r>
              <a:rPr lang="en-US" sz="1350" spc="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assignment_id, faculty_id, section_</a:t>
            </a:r>
            <a:r>
              <a:rPr lang="en-US" sz="1350" spc="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spc="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42539" y="1481795"/>
            <a:ext cx="936631" cy="1256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3"/>
              </a:lnSpc>
            </a:pPr>
            <a:r>
              <a:rPr lang="en-US" sz="1771" b="1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Section</a:t>
            </a:r>
          </a:p>
          <a:p>
            <a:pPr algn="l">
              <a:lnSpc>
                <a:spcPts val="2174"/>
              </a:lnSpc>
            </a:pPr>
            <a:r>
              <a:rPr lang="en-US" sz="1350" spc="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section_id, course_id, strength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42539" y="3081995"/>
            <a:ext cx="1292295" cy="1484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49"/>
              </a:lnSpc>
            </a:pPr>
            <a:r>
              <a:rPr lang="en-US" sz="1771" b="1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Timetable Entry</a:t>
            </a:r>
          </a:p>
          <a:p>
            <a:pPr algn="just">
              <a:lnSpc>
                <a:spcPts val="2174"/>
              </a:lnSpc>
            </a:pPr>
            <a:r>
              <a:rPr lang="en-US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entry_id, assignment_id, room_id, slot_id</a:t>
            </a:r>
          </a:p>
        </p:txBody>
      </p:sp>
      <p:sp>
        <p:nvSpPr>
          <p:cNvPr id="37" name="Freeform 37"/>
          <p:cNvSpPr/>
          <p:nvPr/>
        </p:nvSpPr>
        <p:spPr>
          <a:xfrm>
            <a:off x="9342539" y="285750"/>
            <a:ext cx="2082698" cy="1141627"/>
          </a:xfrm>
          <a:custGeom>
            <a:avLst/>
            <a:gdLst/>
            <a:ahLst/>
            <a:cxnLst/>
            <a:rect l="l" t="t" r="r" b="b"/>
            <a:pathLst>
              <a:path w="2082698" h="1141627">
                <a:moveTo>
                  <a:pt x="0" y="0"/>
                </a:moveTo>
                <a:lnTo>
                  <a:pt x="2082699" y="0"/>
                </a:lnTo>
                <a:lnTo>
                  <a:pt x="2082699" y="1141627"/>
                </a:lnTo>
                <a:lnTo>
                  <a:pt x="0" y="1141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77237" y="202997"/>
            <a:ext cx="1848000" cy="1012978"/>
          </a:xfrm>
          <a:custGeom>
            <a:avLst/>
            <a:gdLst/>
            <a:ahLst/>
            <a:cxnLst/>
            <a:rect l="l" t="t" r="r" b="b"/>
            <a:pathLst>
              <a:path w="1848000" h="1012978">
                <a:moveTo>
                  <a:pt x="0" y="0"/>
                </a:moveTo>
                <a:lnTo>
                  <a:pt x="1848000" y="0"/>
                </a:lnTo>
                <a:lnTo>
                  <a:pt x="1848000" y="1012978"/>
                </a:lnTo>
                <a:lnTo>
                  <a:pt x="0" y="101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62764" y="1624968"/>
            <a:ext cx="10320059" cy="5698042"/>
          </a:xfrm>
          <a:custGeom>
            <a:avLst/>
            <a:gdLst/>
            <a:ahLst/>
            <a:cxnLst/>
            <a:rect l="l" t="t" r="r" b="b"/>
            <a:pathLst>
              <a:path w="10320059" h="5698042">
                <a:moveTo>
                  <a:pt x="0" y="0"/>
                </a:moveTo>
                <a:lnTo>
                  <a:pt x="10320059" y="0"/>
                </a:lnTo>
                <a:lnTo>
                  <a:pt x="10320059" y="5698042"/>
                </a:lnTo>
                <a:lnTo>
                  <a:pt x="0" y="56980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00075" y="634508"/>
            <a:ext cx="2003927" cy="482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9"/>
              </a:lnSpc>
            </a:pPr>
            <a:r>
              <a:rPr lang="en-US" sz="2835" b="1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ER Diagram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6158" y="1187400"/>
            <a:ext cx="9662322" cy="22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4"/>
              </a:lnSpc>
            </a:pPr>
            <a:r>
              <a:rPr lang="en-US" sz="1288" spc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PKs shown on each entity; FK links labelled (dept_id, programme_id, course_id, faculty_id, assignment_id, room_id, slot_id)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06678" y="-52274"/>
            <a:ext cx="1723322" cy="1162775"/>
            <a:chOff x="0" y="0"/>
            <a:chExt cx="15227300" cy="1027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27300" cy="10274300"/>
            </a:xfrm>
            <a:custGeom>
              <a:avLst/>
              <a:gdLst/>
              <a:ahLst/>
              <a:cxnLst/>
              <a:rect l="l" t="t" r="r" b="b"/>
              <a:pathLst>
                <a:path w="15227300" h="10274300">
                  <a:moveTo>
                    <a:pt x="0" y="0"/>
                  </a:moveTo>
                  <a:lnTo>
                    <a:pt x="15227300" y="0"/>
                  </a:lnTo>
                  <a:lnTo>
                    <a:pt x="15227300" y="10274300"/>
                  </a:lnTo>
                  <a:lnTo>
                    <a:pt x="0" y="1027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546" r="-1154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1644127"/>
            <a:ext cx="11430000" cy="6077067"/>
          </a:xfrm>
          <a:custGeom>
            <a:avLst/>
            <a:gdLst/>
            <a:ahLst/>
            <a:cxnLst/>
            <a:rect l="l" t="t" r="r" b="b"/>
            <a:pathLst>
              <a:path w="11430000" h="6077067">
                <a:moveTo>
                  <a:pt x="0" y="0"/>
                </a:moveTo>
                <a:lnTo>
                  <a:pt x="11430000" y="0"/>
                </a:lnTo>
                <a:lnTo>
                  <a:pt x="11430000" y="6077067"/>
                </a:lnTo>
                <a:lnTo>
                  <a:pt x="0" y="60770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98" r="-498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452" y="894165"/>
            <a:ext cx="11375548" cy="5932864"/>
          </a:xfrm>
          <a:custGeom>
            <a:avLst/>
            <a:gdLst/>
            <a:ahLst/>
            <a:cxnLst/>
            <a:rect l="l" t="t" r="r" b="b"/>
            <a:pathLst>
              <a:path w="11375548" h="5932864">
                <a:moveTo>
                  <a:pt x="0" y="0"/>
                </a:moveTo>
                <a:lnTo>
                  <a:pt x="11375548" y="0"/>
                </a:lnTo>
                <a:lnTo>
                  <a:pt x="11375548" y="5932864"/>
                </a:lnTo>
                <a:lnTo>
                  <a:pt x="0" y="5932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75867"/>
            <a:ext cx="11430000" cy="6169460"/>
          </a:xfrm>
          <a:custGeom>
            <a:avLst/>
            <a:gdLst/>
            <a:ahLst/>
            <a:cxnLst/>
            <a:rect l="l" t="t" r="r" b="b"/>
            <a:pathLst>
              <a:path w="11430000" h="6169460">
                <a:moveTo>
                  <a:pt x="0" y="0"/>
                </a:moveTo>
                <a:lnTo>
                  <a:pt x="11430000" y="0"/>
                </a:lnTo>
                <a:lnTo>
                  <a:pt x="11430000" y="6169460"/>
                </a:lnTo>
                <a:lnTo>
                  <a:pt x="0" y="6169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59" t="-470" r="-1184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" y="645757"/>
            <a:ext cx="11420475" cy="6429375"/>
            <a:chOff x="0" y="0"/>
            <a:chExt cx="15227300" cy="8572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27300" cy="8572500"/>
            </a:xfrm>
            <a:custGeom>
              <a:avLst/>
              <a:gdLst/>
              <a:ahLst/>
              <a:cxnLst/>
              <a:rect l="l" t="t" r="r" b="b"/>
              <a:pathLst>
                <a:path w="15227300" h="8572500">
                  <a:moveTo>
                    <a:pt x="0" y="0"/>
                  </a:moveTo>
                  <a:lnTo>
                    <a:pt x="15227300" y="0"/>
                  </a:lnTo>
                  <a:lnTo>
                    <a:pt x="152273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" t="-166" r="-41" b="-1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640994"/>
            <a:ext cx="11430000" cy="6438900"/>
            <a:chOff x="0" y="0"/>
            <a:chExt cx="11430000" cy="643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30000" cy="6438900"/>
            </a:xfrm>
            <a:custGeom>
              <a:avLst/>
              <a:gdLst/>
              <a:ahLst/>
              <a:cxnLst/>
              <a:rect l="l" t="t" r="r" b="b"/>
              <a:pathLst>
                <a:path w="11430000" h="6438900">
                  <a:moveTo>
                    <a:pt x="0" y="0"/>
                  </a:moveTo>
                  <a:lnTo>
                    <a:pt x="11430000" y="0"/>
                  </a:lnTo>
                  <a:lnTo>
                    <a:pt x="11430000" y="6438900"/>
                  </a:lnTo>
                  <a:lnTo>
                    <a:pt x="0" y="643890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00075" y="2593619"/>
            <a:ext cx="523875" cy="523875"/>
            <a:chOff x="0" y="0"/>
            <a:chExt cx="698500" cy="698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80010"/>
                  </a:cubicBezTo>
                  <a:lnTo>
                    <a:pt x="0" y="618490"/>
                  </a:lnTo>
                  <a:cubicBezTo>
                    <a:pt x="0" y="629031"/>
                    <a:pt x="2032" y="639318"/>
                    <a:pt x="6096" y="649097"/>
                  </a:cubicBezTo>
                  <a:cubicBezTo>
                    <a:pt x="10160" y="658876"/>
                    <a:pt x="15875" y="667512"/>
                    <a:pt x="23495" y="675005"/>
                  </a:cubicBezTo>
                  <a:cubicBezTo>
                    <a:pt x="31115" y="682498"/>
                    <a:pt x="39624" y="688340"/>
                    <a:pt x="49403" y="692404"/>
                  </a:cubicBezTo>
                  <a:cubicBezTo>
                    <a:pt x="59182" y="696468"/>
                    <a:pt x="69342" y="698500"/>
                    <a:pt x="80010" y="698500"/>
                  </a:cubicBezTo>
                  <a:lnTo>
                    <a:pt x="618490" y="698500"/>
                  </a:lnTo>
                  <a:cubicBezTo>
                    <a:pt x="629158" y="698500"/>
                    <a:pt x="639318" y="696468"/>
                    <a:pt x="649097" y="692404"/>
                  </a:cubicBezTo>
                  <a:cubicBezTo>
                    <a:pt x="658876" y="688340"/>
                    <a:pt x="667512" y="682625"/>
                    <a:pt x="675005" y="675005"/>
                  </a:cubicBezTo>
                  <a:cubicBezTo>
                    <a:pt x="682498" y="667385"/>
                    <a:pt x="688340" y="658876"/>
                    <a:pt x="692404" y="649097"/>
                  </a:cubicBezTo>
                  <a:cubicBezTo>
                    <a:pt x="696468" y="639318"/>
                    <a:pt x="698500" y="629031"/>
                    <a:pt x="698500" y="618490"/>
                  </a:cubicBezTo>
                  <a:lnTo>
                    <a:pt x="698500" y="80010"/>
                  </a:lnTo>
                  <a:cubicBezTo>
                    <a:pt x="698500" y="69342"/>
                    <a:pt x="696468" y="59182"/>
                    <a:pt x="692404" y="49403"/>
                  </a:cubicBezTo>
                  <a:cubicBezTo>
                    <a:pt x="688340" y="39624"/>
                    <a:pt x="682625" y="30988"/>
                    <a:pt x="675005" y="23495"/>
                  </a:cubicBezTo>
                  <a:cubicBezTo>
                    <a:pt x="667385" y="16002"/>
                    <a:pt x="658876" y="10160"/>
                    <a:pt x="649097" y="6096"/>
                  </a:cubicBezTo>
                  <a:cubicBezTo>
                    <a:pt x="639318" y="2032"/>
                    <a:pt x="629158" y="0"/>
                    <a:pt x="61849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3209925" y="2593619"/>
            <a:ext cx="523875" cy="523875"/>
            <a:chOff x="0" y="0"/>
            <a:chExt cx="698500" cy="698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80010"/>
                  </a:cubicBezTo>
                  <a:lnTo>
                    <a:pt x="0" y="618490"/>
                  </a:lnTo>
                  <a:cubicBezTo>
                    <a:pt x="0" y="629158"/>
                    <a:pt x="2032" y="639318"/>
                    <a:pt x="6096" y="649097"/>
                  </a:cubicBezTo>
                  <a:cubicBezTo>
                    <a:pt x="10160" y="658876"/>
                    <a:pt x="15875" y="667512"/>
                    <a:pt x="23495" y="675005"/>
                  </a:cubicBezTo>
                  <a:cubicBezTo>
                    <a:pt x="31115" y="682498"/>
                    <a:pt x="39624" y="688340"/>
                    <a:pt x="49403" y="692404"/>
                  </a:cubicBezTo>
                  <a:cubicBezTo>
                    <a:pt x="59182" y="696468"/>
                    <a:pt x="69342" y="698500"/>
                    <a:pt x="80010" y="698500"/>
                  </a:cubicBezTo>
                  <a:lnTo>
                    <a:pt x="618490" y="698500"/>
                  </a:lnTo>
                  <a:cubicBezTo>
                    <a:pt x="629158" y="698500"/>
                    <a:pt x="639318" y="696468"/>
                    <a:pt x="649097" y="692404"/>
                  </a:cubicBezTo>
                  <a:cubicBezTo>
                    <a:pt x="658876" y="688340"/>
                    <a:pt x="667512" y="682625"/>
                    <a:pt x="675005" y="675005"/>
                  </a:cubicBezTo>
                  <a:cubicBezTo>
                    <a:pt x="682498" y="667385"/>
                    <a:pt x="688340" y="658876"/>
                    <a:pt x="692404" y="649097"/>
                  </a:cubicBezTo>
                  <a:cubicBezTo>
                    <a:pt x="696468" y="639318"/>
                    <a:pt x="698500" y="629031"/>
                    <a:pt x="698500" y="618490"/>
                  </a:cubicBezTo>
                  <a:lnTo>
                    <a:pt x="698500" y="80010"/>
                  </a:lnTo>
                  <a:cubicBezTo>
                    <a:pt x="698500" y="69342"/>
                    <a:pt x="696468" y="59182"/>
                    <a:pt x="692404" y="49403"/>
                  </a:cubicBezTo>
                  <a:cubicBezTo>
                    <a:pt x="688340" y="39624"/>
                    <a:pt x="682625" y="30988"/>
                    <a:pt x="675005" y="23495"/>
                  </a:cubicBezTo>
                  <a:cubicBezTo>
                    <a:pt x="667385" y="16002"/>
                    <a:pt x="658876" y="10160"/>
                    <a:pt x="649097" y="6096"/>
                  </a:cubicBezTo>
                  <a:cubicBezTo>
                    <a:pt x="639318" y="2032"/>
                    <a:pt x="629158" y="0"/>
                    <a:pt x="61849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5819775" y="2593619"/>
            <a:ext cx="533400" cy="523875"/>
            <a:chOff x="0" y="0"/>
            <a:chExt cx="711200" cy="698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11200" cy="698500"/>
            </a:xfrm>
            <a:custGeom>
              <a:avLst/>
              <a:gdLst/>
              <a:ahLst/>
              <a:cxnLst/>
              <a:rect l="l" t="t" r="r" b="b"/>
              <a:pathLst>
                <a:path w="711200" h="6985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79883"/>
                  </a:cubicBezTo>
                  <a:lnTo>
                    <a:pt x="0" y="618490"/>
                  </a:lnTo>
                  <a:cubicBezTo>
                    <a:pt x="0" y="629158"/>
                    <a:pt x="2032" y="639318"/>
                    <a:pt x="6096" y="649097"/>
                  </a:cubicBezTo>
                  <a:cubicBezTo>
                    <a:pt x="10160" y="658876"/>
                    <a:pt x="15875" y="667512"/>
                    <a:pt x="23495" y="675005"/>
                  </a:cubicBezTo>
                  <a:cubicBezTo>
                    <a:pt x="31115" y="682498"/>
                    <a:pt x="39624" y="688340"/>
                    <a:pt x="49403" y="692404"/>
                  </a:cubicBezTo>
                  <a:cubicBezTo>
                    <a:pt x="59182" y="696468"/>
                    <a:pt x="69342" y="698500"/>
                    <a:pt x="80010" y="698500"/>
                  </a:cubicBezTo>
                  <a:lnTo>
                    <a:pt x="631190" y="698500"/>
                  </a:lnTo>
                  <a:cubicBezTo>
                    <a:pt x="641858" y="698500"/>
                    <a:pt x="652018" y="696468"/>
                    <a:pt x="661797" y="692404"/>
                  </a:cubicBezTo>
                  <a:cubicBezTo>
                    <a:pt x="671576" y="688340"/>
                    <a:pt x="680212" y="682625"/>
                    <a:pt x="687705" y="675005"/>
                  </a:cubicBezTo>
                  <a:cubicBezTo>
                    <a:pt x="695198" y="667385"/>
                    <a:pt x="701040" y="658876"/>
                    <a:pt x="705104" y="649097"/>
                  </a:cubicBezTo>
                  <a:cubicBezTo>
                    <a:pt x="709168" y="639318"/>
                    <a:pt x="711200" y="629031"/>
                    <a:pt x="711200" y="618490"/>
                  </a:cubicBezTo>
                  <a:lnTo>
                    <a:pt x="711200" y="80010"/>
                  </a:lnTo>
                  <a:cubicBezTo>
                    <a:pt x="711200" y="69342"/>
                    <a:pt x="709168" y="59182"/>
                    <a:pt x="705104" y="49403"/>
                  </a:cubicBezTo>
                  <a:cubicBezTo>
                    <a:pt x="701040" y="39624"/>
                    <a:pt x="695325" y="30988"/>
                    <a:pt x="687705" y="23495"/>
                  </a:cubicBezTo>
                  <a:cubicBezTo>
                    <a:pt x="680085" y="16002"/>
                    <a:pt x="671576" y="10160"/>
                    <a:pt x="661797" y="6096"/>
                  </a:cubicBezTo>
                  <a:cubicBezTo>
                    <a:pt x="652018" y="2032"/>
                    <a:pt x="641858" y="0"/>
                    <a:pt x="631190" y="0"/>
                  </a:cubicBezTo>
                  <a:close/>
                </a:path>
              </a:pathLst>
            </a:custGeom>
            <a:blipFill>
              <a:blip r:embed="rId5"/>
              <a:stretch>
                <a:fillRect l="-87" t="-87" r="-85" b="-87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8429625" y="2593619"/>
            <a:ext cx="533400" cy="523875"/>
            <a:chOff x="0" y="0"/>
            <a:chExt cx="711200" cy="698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11200" cy="698500"/>
            </a:xfrm>
            <a:custGeom>
              <a:avLst/>
              <a:gdLst/>
              <a:ahLst/>
              <a:cxnLst/>
              <a:rect l="l" t="t" r="r" b="b"/>
              <a:pathLst>
                <a:path w="711200" h="6985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79883"/>
                  </a:cubicBezTo>
                  <a:lnTo>
                    <a:pt x="0" y="618490"/>
                  </a:lnTo>
                  <a:cubicBezTo>
                    <a:pt x="0" y="629158"/>
                    <a:pt x="2032" y="639318"/>
                    <a:pt x="6096" y="649097"/>
                  </a:cubicBezTo>
                  <a:cubicBezTo>
                    <a:pt x="10160" y="658876"/>
                    <a:pt x="15875" y="667512"/>
                    <a:pt x="23495" y="675005"/>
                  </a:cubicBezTo>
                  <a:cubicBezTo>
                    <a:pt x="31115" y="682498"/>
                    <a:pt x="39624" y="688340"/>
                    <a:pt x="49403" y="692404"/>
                  </a:cubicBezTo>
                  <a:cubicBezTo>
                    <a:pt x="59182" y="696468"/>
                    <a:pt x="69342" y="698500"/>
                    <a:pt x="80010" y="698500"/>
                  </a:cubicBezTo>
                  <a:lnTo>
                    <a:pt x="631190" y="698500"/>
                  </a:lnTo>
                  <a:cubicBezTo>
                    <a:pt x="641858" y="698500"/>
                    <a:pt x="652018" y="696468"/>
                    <a:pt x="661797" y="692404"/>
                  </a:cubicBezTo>
                  <a:cubicBezTo>
                    <a:pt x="671576" y="688340"/>
                    <a:pt x="680212" y="682625"/>
                    <a:pt x="687705" y="675005"/>
                  </a:cubicBezTo>
                  <a:cubicBezTo>
                    <a:pt x="695198" y="667385"/>
                    <a:pt x="701040" y="658876"/>
                    <a:pt x="705104" y="649097"/>
                  </a:cubicBezTo>
                  <a:cubicBezTo>
                    <a:pt x="709168" y="639318"/>
                    <a:pt x="711200" y="629031"/>
                    <a:pt x="711200" y="618490"/>
                  </a:cubicBezTo>
                  <a:lnTo>
                    <a:pt x="711200" y="80010"/>
                  </a:lnTo>
                  <a:cubicBezTo>
                    <a:pt x="711200" y="69342"/>
                    <a:pt x="709168" y="59182"/>
                    <a:pt x="705104" y="49403"/>
                  </a:cubicBezTo>
                  <a:cubicBezTo>
                    <a:pt x="701040" y="39624"/>
                    <a:pt x="695325" y="30988"/>
                    <a:pt x="687705" y="23495"/>
                  </a:cubicBezTo>
                  <a:cubicBezTo>
                    <a:pt x="680085" y="16002"/>
                    <a:pt x="671576" y="10160"/>
                    <a:pt x="661797" y="6096"/>
                  </a:cubicBezTo>
                  <a:cubicBezTo>
                    <a:pt x="652018" y="2032"/>
                    <a:pt x="641858" y="0"/>
                    <a:pt x="631190" y="0"/>
                  </a:cubicBezTo>
                  <a:close/>
                </a:path>
              </a:pathLst>
            </a:custGeom>
            <a:blipFill>
              <a:blip r:embed="rId6"/>
              <a:stretch>
                <a:fillRect l="-87" t="-87" r="-85" b="-8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600075" y="4708169"/>
            <a:ext cx="523875" cy="523875"/>
            <a:chOff x="0" y="0"/>
            <a:chExt cx="698500" cy="698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80010"/>
                  </a:cubicBezTo>
                  <a:lnTo>
                    <a:pt x="0" y="618490"/>
                  </a:lnTo>
                  <a:cubicBezTo>
                    <a:pt x="0" y="629031"/>
                    <a:pt x="2032" y="639318"/>
                    <a:pt x="6096" y="649097"/>
                  </a:cubicBezTo>
                  <a:cubicBezTo>
                    <a:pt x="10160" y="658876"/>
                    <a:pt x="15875" y="667512"/>
                    <a:pt x="23495" y="675005"/>
                  </a:cubicBezTo>
                  <a:cubicBezTo>
                    <a:pt x="31115" y="682498"/>
                    <a:pt x="39624" y="688340"/>
                    <a:pt x="49403" y="692404"/>
                  </a:cubicBezTo>
                  <a:cubicBezTo>
                    <a:pt x="59182" y="696468"/>
                    <a:pt x="69342" y="698500"/>
                    <a:pt x="80010" y="698500"/>
                  </a:cubicBezTo>
                  <a:lnTo>
                    <a:pt x="618490" y="698500"/>
                  </a:lnTo>
                  <a:cubicBezTo>
                    <a:pt x="629158" y="698500"/>
                    <a:pt x="639318" y="696468"/>
                    <a:pt x="649097" y="692404"/>
                  </a:cubicBezTo>
                  <a:cubicBezTo>
                    <a:pt x="658876" y="688340"/>
                    <a:pt x="667512" y="682625"/>
                    <a:pt x="675005" y="675005"/>
                  </a:cubicBezTo>
                  <a:cubicBezTo>
                    <a:pt x="682498" y="667385"/>
                    <a:pt x="688340" y="658876"/>
                    <a:pt x="692404" y="649097"/>
                  </a:cubicBezTo>
                  <a:cubicBezTo>
                    <a:pt x="696468" y="639318"/>
                    <a:pt x="698500" y="629031"/>
                    <a:pt x="698500" y="618490"/>
                  </a:cubicBezTo>
                  <a:lnTo>
                    <a:pt x="698500" y="80010"/>
                  </a:lnTo>
                  <a:cubicBezTo>
                    <a:pt x="698500" y="69342"/>
                    <a:pt x="696468" y="59182"/>
                    <a:pt x="692404" y="49403"/>
                  </a:cubicBezTo>
                  <a:cubicBezTo>
                    <a:pt x="688340" y="39624"/>
                    <a:pt x="682625" y="30988"/>
                    <a:pt x="675005" y="23495"/>
                  </a:cubicBezTo>
                  <a:cubicBezTo>
                    <a:pt x="667385" y="16002"/>
                    <a:pt x="658876" y="10160"/>
                    <a:pt x="649097" y="6096"/>
                  </a:cubicBezTo>
                  <a:cubicBezTo>
                    <a:pt x="639318" y="2032"/>
                    <a:pt x="629158" y="0"/>
                    <a:pt x="618490" y="0"/>
                  </a:cubicBez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3209925" y="4708169"/>
            <a:ext cx="523875" cy="523875"/>
            <a:chOff x="0" y="0"/>
            <a:chExt cx="698500" cy="698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80010"/>
                  </a:cubicBezTo>
                  <a:lnTo>
                    <a:pt x="0" y="618490"/>
                  </a:lnTo>
                  <a:cubicBezTo>
                    <a:pt x="0" y="629158"/>
                    <a:pt x="2032" y="639318"/>
                    <a:pt x="6096" y="649097"/>
                  </a:cubicBezTo>
                  <a:cubicBezTo>
                    <a:pt x="10160" y="658876"/>
                    <a:pt x="15875" y="667512"/>
                    <a:pt x="23495" y="675005"/>
                  </a:cubicBezTo>
                  <a:cubicBezTo>
                    <a:pt x="31115" y="682498"/>
                    <a:pt x="39624" y="688340"/>
                    <a:pt x="49403" y="692404"/>
                  </a:cubicBezTo>
                  <a:cubicBezTo>
                    <a:pt x="59182" y="696468"/>
                    <a:pt x="69342" y="698500"/>
                    <a:pt x="80010" y="698500"/>
                  </a:cubicBezTo>
                  <a:lnTo>
                    <a:pt x="618490" y="698500"/>
                  </a:lnTo>
                  <a:cubicBezTo>
                    <a:pt x="629158" y="698500"/>
                    <a:pt x="639318" y="696468"/>
                    <a:pt x="649097" y="692404"/>
                  </a:cubicBezTo>
                  <a:cubicBezTo>
                    <a:pt x="658876" y="688340"/>
                    <a:pt x="667512" y="682625"/>
                    <a:pt x="675005" y="675005"/>
                  </a:cubicBezTo>
                  <a:cubicBezTo>
                    <a:pt x="682498" y="667385"/>
                    <a:pt x="688340" y="658876"/>
                    <a:pt x="692404" y="649097"/>
                  </a:cubicBezTo>
                  <a:cubicBezTo>
                    <a:pt x="696468" y="639318"/>
                    <a:pt x="698500" y="629031"/>
                    <a:pt x="698500" y="618490"/>
                  </a:cubicBezTo>
                  <a:lnTo>
                    <a:pt x="698500" y="80010"/>
                  </a:lnTo>
                  <a:cubicBezTo>
                    <a:pt x="698500" y="69342"/>
                    <a:pt x="696468" y="59182"/>
                    <a:pt x="692404" y="49403"/>
                  </a:cubicBezTo>
                  <a:cubicBezTo>
                    <a:pt x="688340" y="39624"/>
                    <a:pt x="682625" y="30988"/>
                    <a:pt x="675005" y="23495"/>
                  </a:cubicBezTo>
                  <a:cubicBezTo>
                    <a:pt x="667385" y="16002"/>
                    <a:pt x="658876" y="10160"/>
                    <a:pt x="649097" y="6096"/>
                  </a:cubicBezTo>
                  <a:cubicBezTo>
                    <a:pt x="639318" y="2032"/>
                    <a:pt x="629158" y="0"/>
                    <a:pt x="618490" y="0"/>
                  </a:cubicBez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600075" y="1758305"/>
            <a:ext cx="1676400" cy="480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9"/>
              </a:lnSpc>
            </a:pPr>
            <a:r>
              <a:rPr lang="en-US" sz="2835" b="1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outcomes: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38275" y="2508117"/>
            <a:ext cx="1026778" cy="1917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6"/>
              </a:lnSpc>
            </a:pPr>
            <a:r>
              <a:rPr lang="en-US" sz="1221" b="1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Efficient Faculty Workload Management</a:t>
            </a:r>
          </a:p>
          <a:p>
            <a:pPr algn="l">
              <a:lnSpc>
                <a:spcPts val="1516"/>
              </a:lnSpc>
            </a:pPr>
            <a:r>
              <a:rPr lang="en-US" sz="1221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 Calculate and monitor the teaching workload of each faculty member.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41539" y="4656439"/>
            <a:ext cx="1679714" cy="142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204" b="1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Improved Resource Utilization</a:t>
            </a:r>
          </a:p>
          <a:p>
            <a:pPr algn="l">
              <a:lnSpc>
                <a:spcPts val="1940"/>
              </a:lnSpc>
            </a:pPr>
            <a:r>
              <a:rPr lang="en-US" sz="1204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 Efficiently manage classrooms and available time slots based on capacity and availability.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44918" y="2574569"/>
            <a:ext cx="1042101" cy="1456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4"/>
              </a:lnSpc>
            </a:pPr>
            <a:r>
              <a:rPr lang="en-US" sz="1129" b="1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Conflict-Free Timetable</a:t>
            </a:r>
            <a:r>
              <a:rPr lang="en-US" sz="1129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 Generation</a:t>
            </a:r>
          </a:p>
          <a:p>
            <a:pPr algn="l">
              <a:lnSpc>
                <a:spcPts val="1434"/>
              </a:lnSpc>
            </a:pPr>
            <a:r>
              <a:rPr lang="en-US" sz="1129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 Reduce faculty, room and section clashes during timetable preparation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52580" y="4704064"/>
            <a:ext cx="1600262" cy="1453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8"/>
              </a:lnSpc>
            </a:pPr>
            <a:r>
              <a:rPr lang="en-US" sz="1203" b="1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Easy Reporting and Decision Making</a:t>
            </a:r>
          </a:p>
          <a:p>
            <a:pPr algn="l">
              <a:lnSpc>
                <a:spcPts val="1478"/>
              </a:lnSpc>
            </a:pPr>
            <a:endParaRPr lang="en-US" sz="1203" b="1">
              <a:solidFill>
                <a:srgbClr val="272525"/>
              </a:solidFill>
              <a:latin typeface="Petrona Bold"/>
              <a:ea typeface="Petrona Bold"/>
              <a:cs typeface="Petrona Bold"/>
              <a:sym typeface="Petrona Bold"/>
            </a:endParaRPr>
          </a:p>
          <a:p>
            <a:pPr algn="l">
              <a:lnSpc>
                <a:spcPts val="1478"/>
              </a:lnSpc>
            </a:pPr>
            <a:r>
              <a:rPr lang="en-US" sz="1203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 Generate reports such as faculty workload, room utilization, timetable, clashes and substitutions.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63620" y="2541889"/>
            <a:ext cx="1120112" cy="2138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1"/>
              </a:lnSpc>
            </a:pPr>
            <a:r>
              <a:rPr lang="en-US" sz="1180" b="1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Centralized Database Management</a:t>
            </a:r>
          </a:p>
          <a:p>
            <a:pPr algn="l">
              <a:lnSpc>
                <a:spcPts val="1901"/>
              </a:lnSpc>
            </a:pPr>
            <a:r>
              <a:rPr lang="en-US" sz="118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 Store faculty, courses, sections, rooms, time slots and timetable information in one database.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74661" y="2579989"/>
            <a:ext cx="1003962" cy="1556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lang="en-US" sz="1107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B</a:t>
            </a:r>
            <a:r>
              <a:rPr lang="en-US" sz="1107" b="1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etter Course Allocation</a:t>
            </a:r>
          </a:p>
          <a:p>
            <a:pPr algn="l">
              <a:lnSpc>
                <a:spcPts val="1375"/>
              </a:lnSpc>
            </a:pPr>
            <a:r>
              <a:rPr lang="en-US" sz="1107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 Assign courses/sections to appropriate faculty members while considering workload limits.</a:t>
            </a:r>
          </a:p>
        </p:txBody>
      </p:sp>
      <p:sp>
        <p:nvSpPr>
          <p:cNvPr id="25" name="Freeform 25"/>
          <p:cNvSpPr/>
          <p:nvPr/>
        </p:nvSpPr>
        <p:spPr>
          <a:xfrm>
            <a:off x="9342539" y="640994"/>
            <a:ext cx="2082698" cy="1141627"/>
          </a:xfrm>
          <a:custGeom>
            <a:avLst/>
            <a:gdLst/>
            <a:ahLst/>
            <a:cxnLst/>
            <a:rect l="l" t="t" r="r" b="b"/>
            <a:pathLst>
              <a:path w="2082698" h="1141627">
                <a:moveTo>
                  <a:pt x="0" y="0"/>
                </a:moveTo>
                <a:lnTo>
                  <a:pt x="2082699" y="0"/>
                </a:lnTo>
                <a:lnTo>
                  <a:pt x="2082699" y="1141628"/>
                </a:lnTo>
                <a:lnTo>
                  <a:pt x="0" y="11416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359</Words>
  <Application>Microsoft Office PowerPoint</Application>
  <PresentationFormat>Custom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Petrona</vt:lpstr>
      <vt:lpstr>Calibri</vt:lpstr>
      <vt:lpstr>Arial</vt:lpstr>
      <vt:lpstr>Inter</vt:lpstr>
      <vt:lpstr>Petrona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Faculty-Workload-and-Timetable-Management-System.pdf</dc:title>
  <cp:lastModifiedBy>Lingampally Mohith</cp:lastModifiedBy>
  <cp:revision>1</cp:revision>
  <dcterms:created xsi:type="dcterms:W3CDTF">2006-08-16T00:00:00Z</dcterms:created>
  <dcterms:modified xsi:type="dcterms:W3CDTF">2026-10-06T10:28:17Z</dcterms:modified>
  <dc:identifier>DAHTXFfaJw0</dc:identifier>
</cp:coreProperties>
</file>